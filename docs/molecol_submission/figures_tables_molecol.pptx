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1</a:t>
            </a:r>
          </a:p>
        </p:txBody>
      </p:sp>
      <p:pic>
        <p:nvPicPr>
          <p:cNvPr id="3" name="Picture 2" descr="figH1_structural_null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831" y="777240"/>
            <a:ext cx="7529856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Why pairwise comparisons need a structural null. (a) Four sampling units. (b) Every unit recurs across many pairs, so pairwise measurements are not independent. (c) Reading one pair on its own invites a pair-specific explanation. (d) The same pair read against the expectation generated by the whole set of units. (e) The inferential workflow used here: population profiles, complete pairwise similarity matrix, population-wide structural model, population-label permutation (QAP), residual pair test, and multiplicity control. Panels a-d are schematic illustrations and do not display analysis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2</a:t>
            </a:r>
          </a:p>
        </p:txBody>
      </p:sp>
      <p:pic>
        <p:nvPicPr>
          <p:cNvPr id="3" name="Picture 2" descr="fig1_sharing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3" y="777240"/>
            <a:ext cx="11050913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Archaic-segment profile similarity against geographic distance. Each point is one population pair; pairs sharing a population are not independent. Lines are descriptive distance-only fits, and reported P values come from population-label QAP permutations.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3</a:t>
            </a:r>
          </a:p>
        </p:txBody>
      </p:sp>
      <p:pic>
        <p:nvPicPr>
          <p:cNvPr id="3" name="Picture 2" descr="fig2_shar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7" y="777240"/>
            <a:ext cx="1112780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Population-wide similarity structure. Pairwise archaic-segment profile similarity for 31 populations selected for visual legibility and ordered by geographic region; all 66 populations were analysed (Figure S1).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4</a:t>
            </a:r>
          </a:p>
        </p:txBody>
      </p:sp>
      <p:pic>
        <p:nvPicPr>
          <p:cNvPr id="3" name="Picture 2" descr="figH4_residual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75508"/>
            <a:ext cx="11155680" cy="47698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Pair-specific evidence against the structural expectation. For each non-admixed population pair, the standardised positive residual from the population-wide model is plotted against its Benjamini-Hochberg q value. The shaded region marks the prespecified support criterion (z&gt;2 and q&lt;0.10), which contains no pair for either ancestry.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5</a:t>
            </a:r>
          </a:p>
        </p:txBody>
      </p:sp>
      <p:pic>
        <p:nvPicPr>
          <p:cNvPr id="3" name="Picture 2" descr="figH5_robustnes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38373"/>
            <a:ext cx="11155680" cy="46440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Robustness of the population-wide distance association. (a) Population subsets, including dataset restrictions, minimum sample sizes, exclusion of recently admixed populations and co-located pairs, and omission of each region in turn. (b) Alternative similarity measures. (c) 250-kb, 500-kb, and 1-Mb window sizes. All panels summarise analyses reported in Supplementary Data; no additional hypothesis test is introduced.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S1</a:t>
            </a:r>
          </a:p>
        </p:txBody>
      </p:sp>
      <p:pic>
        <p:nvPicPr>
          <p:cNvPr id="3" name="Picture 2" descr="figS1_fu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7" y="777240"/>
            <a:ext cx="1112780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Complete 66-population Neanderthal and Denisovan profile-similarity matrices.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S2</a:t>
            </a:r>
          </a:p>
        </p:txBody>
      </p:sp>
      <p:pic>
        <p:nvPicPr>
          <p:cNvPr id="3" name="Picture 2" descr="fig4_sensitivity_adm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158" y="777240"/>
            <a:ext cx="8719202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Sensitivity of the descriptive Neanderthal distance correlation to exclusion of designated recently admixed populations.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S3</a:t>
            </a:r>
          </a:p>
        </p:txBody>
      </p:sp>
      <p:pic>
        <p:nvPicPr>
          <p:cNvPr id="3" name="Picture 2" descr="fig5_window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856" y="777240"/>
            <a:ext cx="8095806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Descriptive geographic distance correlations at 250-kb, 500-kb, and 1-Mb window sizes. QAP results are tabulated in Supplementary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S4</a:t>
            </a:r>
          </a:p>
        </p:txBody>
      </p:sp>
      <p:pic>
        <p:nvPicPr>
          <p:cNvPr id="3" name="Picture 2" descr="fig5_abo_sub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9920"/>
            <a:ext cx="11155680" cy="44809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Exploratory ABO-centered analysis preserving the historical grouped-bar and segment-map layout. Equal maximum-similarity ties are excluded from the displayed three-reference proportions and retained in Supplementary Data. The Pima segment overlaps ABO; the Maya segment is within the wider interval but does not overlap the gene. Counts are segments, not regional frequencies, and are not interpreted as a migration route.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S5</a:t>
            </a:r>
          </a:p>
        </p:txBody>
      </p:sp>
      <p:pic>
        <p:nvPicPr>
          <p:cNvPr id="3" name="Picture 2" descr="fig6_o2_int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22707"/>
            <a:ext cx="11155680" cy="4875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O2 blood-group subtype-defining allele frequencies and ABO-window segment-carrier frequencies. The panels use different sources and are not an association analysis; proximity does not establish that the O2 allele is Neanderthal-derived.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S6</a:t>
            </a:r>
          </a:p>
        </p:txBody>
      </p:sp>
      <p:pic>
        <p:nvPicPr>
          <p:cNvPr id="3" name="Picture 2" descr="fig8_temporal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20" y="777240"/>
            <a:ext cx="10238278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Descriptive ancient and modern ABO-window summaries generated by different pipelines; no formal temporal comparison is made.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S7</a:t>
            </a:r>
          </a:p>
        </p:txBody>
      </p:sp>
      <p:pic>
        <p:nvPicPr>
          <p:cNvPr id="3" name="Picture 2" descr="fig9_bivariate_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71" y="777240"/>
            <a:ext cx="10263777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Bivariate global context computed in this study. Circle area encodes the mean per-bin Neanderthal-segment coverage and colour encodes the mean per-bin Denisovan-segment coverage for each population, both from data/population_profiles_500kb.npz; coordinates are approximate sampling locations from data/population_metadata.csv. These descriptive summaries were not used in the pairwise statistical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Table 1. Positive-residual archaic pairs after false discovery rate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2514600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Ancestry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Population 1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Population 2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 1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 2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Distance (km)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Sharing (r)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z-score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 qualifying 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 z&gt;2 and q&lt;0.10 result for either ancestry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Note. The prespecified family contains all non-admixed population pairs. A supported positive outlier required z&gt;2 and Benjamini-Hochberg q&lt;0.10 for Neanderthal or Denisovan ancestry; complete nominal rankings and dependence-aware model results are provided in Supplementary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Table S1. Exploratory ABO-window Neanderthal-reference composition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Altai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Vindija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Chagyrskaya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East 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Indigenous 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Admixed 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61.2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Central/South 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Middle 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Oceania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Note. Counts are classifiable segments, not individuals. Percentages use the three-reference denominator shown by n. Equal maximum-similarity ties are excluded from these percentages but retained in Supplementary Data. The 2/2 Indigenous American value is not a regional frequency estimate; only one segment overlaps ABO, and these counts are not interpreted as a migration route.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